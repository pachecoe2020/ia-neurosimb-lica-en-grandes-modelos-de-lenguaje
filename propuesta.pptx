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5a101fd7a4ba1" /><Relationship Type="http://schemas.openxmlformats.org/officeDocument/2006/relationships/extended-properties" Target="/docProps/app.xml" Id="R778662ef93a54099" /><Relationship Type="http://schemas.openxmlformats.org/officeDocument/2006/relationships/officeDocument" Target="/ppt/presentation.xml" Id="R76752f366e39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bb7b643e54b9e"/>
  </p:sldMasterIdLst>
  <p:notesMasterIdLst>
    <p:notesMasterId xmlns:r="http://schemas.openxmlformats.org/officeDocument/2006/relationships" r:id="Rdb6143ad46b04c72"/>
  </p:notesMasterIdLst>
  <p:sldIdLst>
    <p:sldId xmlns:r="http://schemas.openxmlformats.org/officeDocument/2006/relationships" id="256" r:id="Rb73dd95458864448"/>
    <p:sldId xmlns:r="http://schemas.openxmlformats.org/officeDocument/2006/relationships" id="257" r:id="R72f1416e52804118"/>
    <p:sldId xmlns:r="http://schemas.openxmlformats.org/officeDocument/2006/relationships" id="258" r:id="R35549d0b6b1b448e"/>
    <p:sldId xmlns:r="http://schemas.openxmlformats.org/officeDocument/2006/relationships" id="259" r:id="Rccc9da375b5a4002"/>
    <p:sldId xmlns:r="http://schemas.openxmlformats.org/officeDocument/2006/relationships" id="260" r:id="Rd2fd967b5878487e"/>
    <p:sldId xmlns:r="http://schemas.openxmlformats.org/officeDocument/2006/relationships" id="261" r:id="R11903e54d85a4baa"/>
    <p:sldId xmlns:r="http://schemas.openxmlformats.org/officeDocument/2006/relationships" id="262" r:id="R1eb03c6cf9c34303"/>
    <p:sldId xmlns:r="http://schemas.openxmlformats.org/officeDocument/2006/relationships" id="263" r:id="Ra2ffb8d3f16c497f"/>
    <p:sldId xmlns:r="http://schemas.openxmlformats.org/officeDocument/2006/relationships" id="264" r:id="Rfcc8e2b984794671"/>
    <p:sldId xmlns:r="http://schemas.openxmlformats.org/officeDocument/2006/relationships" id="265" r:id="Rb5ac1f1c07174b13"/>
    <p:sldId xmlns:r="http://schemas.openxmlformats.org/officeDocument/2006/relationships" id="266" r:id="R4b199cf6fe504153"/>
    <p:sldId xmlns:r="http://schemas.openxmlformats.org/officeDocument/2006/relationships" id="267" r:id="R6537dc73234942e7"/>
    <p:sldId xmlns:r="http://schemas.openxmlformats.org/officeDocument/2006/relationships" id="268" r:id="R2104d6f3105e4c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bb7b643e54b9e" /><Relationship Type="http://schemas.openxmlformats.org/officeDocument/2006/relationships/theme" Target="/ppt/theme/theme1.xml" Id="Rfb76ff9d96fd45ee" /><Relationship Type="http://schemas.openxmlformats.org/officeDocument/2006/relationships/notesMaster" Target="/ppt/notesMasters/notesMaster1.xml" Id="Rdb6143ad46b04c72" /><Relationship Type="http://schemas.openxmlformats.org/officeDocument/2006/relationships/presProps" Target="/ppt/presProps.xml" Id="Rdaa06950def04203" /><Relationship Type="http://schemas.openxmlformats.org/officeDocument/2006/relationships/viewProps" Target="/ppt/viewProps.xml" Id="R4d71dceff57b421b" /><Relationship Type="http://schemas.openxmlformats.org/officeDocument/2006/relationships/tableStyles" Target="/ppt/tableStyles.xml" Id="Rba596eb126834ab3" /><Relationship Type="http://schemas.openxmlformats.org/officeDocument/2006/relationships/slide" Target="/ppt/slides/slide1.xml" Id="Rb73dd95458864448" /><Relationship Type="http://schemas.openxmlformats.org/officeDocument/2006/relationships/slide" Target="/ppt/slides/slide2.xml" Id="R72f1416e52804118" /><Relationship Type="http://schemas.openxmlformats.org/officeDocument/2006/relationships/slide" Target="/ppt/slides/slide3.xml" Id="R35549d0b6b1b448e" /><Relationship Type="http://schemas.openxmlformats.org/officeDocument/2006/relationships/slide" Target="/ppt/slides/slide4.xml" Id="Rccc9da375b5a4002" /><Relationship Type="http://schemas.openxmlformats.org/officeDocument/2006/relationships/slide" Target="/ppt/slides/slide5.xml" Id="Rd2fd967b5878487e" /><Relationship Type="http://schemas.openxmlformats.org/officeDocument/2006/relationships/slide" Target="/ppt/slides/slide6.xml" Id="R11903e54d85a4baa" /><Relationship Type="http://schemas.openxmlformats.org/officeDocument/2006/relationships/slide" Target="/ppt/slides/slide7.xml" Id="R1eb03c6cf9c34303" /><Relationship Type="http://schemas.openxmlformats.org/officeDocument/2006/relationships/slide" Target="/ppt/slides/slide8.xml" Id="Ra2ffb8d3f16c497f" /><Relationship Type="http://schemas.openxmlformats.org/officeDocument/2006/relationships/slide" Target="/ppt/slides/slide9.xml" Id="Rfcc8e2b984794671" /><Relationship Type="http://schemas.openxmlformats.org/officeDocument/2006/relationships/slide" Target="/ppt/slides/slide10.xml" Id="Rb5ac1f1c07174b13" /><Relationship Type="http://schemas.openxmlformats.org/officeDocument/2006/relationships/slide" Target="/ppt/slides/slide11.xml" Id="R4b199cf6fe504153" /><Relationship Type="http://schemas.openxmlformats.org/officeDocument/2006/relationships/slide" Target="/ppt/slides/slide12.xml" Id="R6537dc73234942e7" /><Relationship Type="http://schemas.openxmlformats.org/officeDocument/2006/relationships/slide" Target="/ppt/slides/slide13.xml" Id="R2104d6f3105e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be8e6eb9f8a42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1f35c637bf4bb3" /><Relationship Type="http://schemas.openxmlformats.org/officeDocument/2006/relationships/notesMaster" Target="/ppt/notesMasters/notesMaster1.xml" Id="Ree5bc51d88e640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b74f952ee34d35" /><Relationship Type="http://schemas.openxmlformats.org/officeDocument/2006/relationships/notesMaster" Target="/ppt/notesMasters/notesMaster1.xml" Id="Rb48f325488ab49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2cfc3be3b44c6" /><Relationship Type="http://schemas.openxmlformats.org/officeDocument/2006/relationships/notesMaster" Target="/ppt/notesMasters/notesMaster1.xml" Id="Rf4cd25870fca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28680e2deb4379" /><Relationship Type="http://schemas.openxmlformats.org/officeDocument/2006/relationships/notesMaster" Target="/ppt/notesMasters/notesMaster1.xml" Id="Red79872474154c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e66260fcc43d9" /><Relationship Type="http://schemas.openxmlformats.org/officeDocument/2006/relationships/notesMaster" Target="/ppt/notesMasters/notesMaster1.xml" Id="Rbd9dedf441cc40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078f9b5b1d4556" /><Relationship Type="http://schemas.openxmlformats.org/officeDocument/2006/relationships/notesMaster" Target="/ppt/notesMasters/notesMaster1.xml" Id="Rd62077cd92f144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491093fd4b44fd" /><Relationship Type="http://schemas.openxmlformats.org/officeDocument/2006/relationships/notesMaster" Target="/ppt/notesMasters/notesMaster1.xml" Id="R12c25f233c2e4d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449f931ef452b" /><Relationship Type="http://schemas.openxmlformats.org/officeDocument/2006/relationships/notesMaster" Target="/ppt/notesMasters/notesMaster1.xml" Id="Rdc1424c74f4e46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74eaabb7794cee" /><Relationship Type="http://schemas.openxmlformats.org/officeDocument/2006/relationships/notesMaster" Target="/ppt/notesMasters/notesMaster1.xml" Id="R903b99f1d97a47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0586ba38d84425" /><Relationship Type="http://schemas.openxmlformats.org/officeDocument/2006/relationships/notesMaster" Target="/ppt/notesMasters/notesMaster1.xml" Id="Rabcf4db5302b4b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bf0adaa6a74bf9" /><Relationship Type="http://schemas.openxmlformats.org/officeDocument/2006/relationships/notesMaster" Target="/ppt/notesMasters/notesMaster1.xml" Id="R0b4107b3bb9d44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be13a58f3045ab" /><Relationship Type="http://schemas.openxmlformats.org/officeDocument/2006/relationships/notesMaster" Target="/ppt/notesMasters/notesMaster1.xml" Id="Rf01ffec7da9444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0793b9a3154939" /><Relationship Type="http://schemas.openxmlformats.org/officeDocument/2006/relationships/notesMaster" Target="/ppt/notesMasters/notesMaster1.xml" Id="Ra63ae92b3bae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0721dff954d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01dd5cdfb6c4bf9" /><Relationship Type="http://schemas.openxmlformats.org/officeDocument/2006/relationships/slideLayout" Target="/ppt/slideLayouts/slideLayout2.xml" Id="Rbfb87357c14740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87357c14740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fd76f81bc4b37" /><Relationship Type="http://schemas.openxmlformats.org/officeDocument/2006/relationships/notesSlide" Target="/ppt/notesSlides/notesSlide1.xml" Id="Rdc3faf6d664a4f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16790d0c34f28" /><Relationship Type="http://schemas.openxmlformats.org/officeDocument/2006/relationships/notesSlide" Target="/ppt/notesSlides/notesSlide2.xml" Id="R590d8055371846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2a88b2e974a4c" /><Relationship Type="http://schemas.openxmlformats.org/officeDocument/2006/relationships/notesSlide" Target="/ppt/notesSlides/notesSlide3.xml" Id="Re4bc8888b4e142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6603e79734d22" /><Relationship Type="http://schemas.openxmlformats.org/officeDocument/2006/relationships/notesSlide" Target="/ppt/notesSlides/notesSlide4.xml" Id="Rb7a11732bc2c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382d6479842e0" /><Relationship Type="http://schemas.openxmlformats.org/officeDocument/2006/relationships/notesSlide" Target="/ppt/notesSlides/notesSlide5.xml" Id="Rfd4d7d18f39f49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67315e1ea24758" /><Relationship Type="http://schemas.openxmlformats.org/officeDocument/2006/relationships/notesSlide" Target="/ppt/notesSlides/notesSlide6.xml" Id="Rbfe591f0dcf642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3c3be8e6e4dae" /><Relationship Type="http://schemas.openxmlformats.org/officeDocument/2006/relationships/notesSlide" Target="/ppt/notesSlides/notesSlide7.xml" Id="R1b0d25b2165c4c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1c6e1f9a0c434e" /><Relationship Type="http://schemas.openxmlformats.org/officeDocument/2006/relationships/notesSlide" Target="/ppt/notesSlides/notesSlide8.xml" Id="R2f36a8e0f57b44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63e9b66ff4b85" /><Relationship Type="http://schemas.openxmlformats.org/officeDocument/2006/relationships/notesSlide" Target="/ppt/notesSlides/notesSlide9.xml" Id="R756110b28876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ccf8e58dcc4c3b" /><Relationship Type="http://schemas.openxmlformats.org/officeDocument/2006/relationships/notesSlide" Target="/ppt/notesSlides/notesSlide10.xml" Id="R30148ba1e6ea4c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8804b63af487f" /><Relationship Type="http://schemas.openxmlformats.org/officeDocument/2006/relationships/notesSlide" Target="/ppt/notesSlides/notesSlide11.xml" Id="R382d9007394744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2977b1c27841df" /><Relationship Type="http://schemas.openxmlformats.org/officeDocument/2006/relationships/notesSlide" Target="/ppt/notesSlides/notesSlide12.xml" Id="Rfa9fbc65ef2542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915162ed4749cc" /><Relationship Type="http://schemas.openxmlformats.org/officeDocument/2006/relationships/notesSlide" Target="/ppt/notesSlides/notesSlide13.xml" Id="R38d90e8a3bb94c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D25B4-9DAF-4C94-9691-D6F93630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BA6A1-7835-4ABE-AC5B-AC3324FC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070EC-09CC-4DD2-8958-2AAE6D7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A4B04-A11E-444B-9830-0DEA3F22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PROPUESTA ACADÉMICA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68ACE-6C1E-45CC-90B4-C6FD2B29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5553D-6637-4755-9D19-EAC6938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IA Neurosimbólica y Grandes Modelos de Lenguaje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0D7E5-27C2-4D61-AEA4-5E0F0FF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Cómo combinar interpretación neuronal con razonamiento simbólico verificable.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6602A-98A5-4EBC-9B74-D645EAC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4088D-EFDC-4E44-B735-0D570E7F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1E97E-0550-432E-80CC-DD8AB9CC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Tipo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2D58-A984-438D-8B11-5044791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patrón dominante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9E4C0-CF1E-4662-A7E8-796324A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625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LLM formaliza; solver razona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3A6B6-7533-4666-9D67-0FBA54CE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75F6B-4B7F-4D6B-8382-FA9D85F5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Tipo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6EF51-5A05-4156-BDDF-5ACD4BA5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625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caso AlphaGeometry2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1A774-1B0C-4394-952E-81FEAA73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625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solver gobierna; red propone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35A9E-F3F9-4F1B-9FD5-CAC4674E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A0903-DD71-42CF-A89E-5C26A695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815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69481-59B2-434F-8704-F8FE674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IMO 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9F980-0557-4A5C-8DA2-FA94A09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25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AlphaGeometry2 2000-2024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FEED2-90F0-488D-9CD4-A0C28B2C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5E5C9-BF9A-4A7E-B0B5-0243A95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1-N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CCA8F-5EDE-40CA-B30B-067310D9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iteraciones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CC675-93A7-4AC6-B1A4-631C904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62525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self-refinement y verificación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285C0-7D20-446E-88A3-EDC396BB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421FD-9CF6-4376-A99A-50A90D6D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Basado en la wiki del proyecto | Referencias principales: [1], [2], [7], [8], [9], [15], [16]</a:t>
            </a:r>
          </a:p>
        </p:txBody>
      </p:sp>
    </p:spTree>
    <p:extLst>
      <p:ext uri="{BB962C8B-B14F-4D97-AF65-F5344CB8AC3E}">
        <p14:creationId xmlns:p14="http://schemas.microsoft.com/office/powerpoint/2010/main" val="18616769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7893C-5C21-4BA8-9644-F7485CF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0210B-CE28-48EC-825A-720CA18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6363C-6679-4752-8F57-2C518F8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8CB24-5F38-4D7F-BD00-F37561FD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PROBLEMA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A045D-630C-4998-831C-0E2F59C3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BA807-ED5B-442A-8B66-35E71E6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NeSy responde a una tensión: flexibilidad sin garantías frente a garantías sin flexibilidad.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196E8-CA98-42D5-936B-01434905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Los LLMs interpretan lenguaje natural; los sistemas simbólicos verifican reglas. Ninguno resuelve por sí solo toda la cadena.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4BB98-52B3-4331-BC4B-E877C3A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48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6E2E8-F66D-4949-A154-DEA38F1E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4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A4C7E-1983-49D3-8A9A-93B096B6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434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Paradigma conexionista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54F35-F696-4203-82DF-10C28AE0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4343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Aprende patrones desde datos, tolera ruido e interpreta lenguaje natural. Su salida puede ser plausible sin ser formalmente correcta.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4BB44-82BC-4D43-B751-EA31FBE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48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D7883-782B-453E-95E6-30B5253D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4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5295E-D0C1-4843-874E-0D74522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19375"/>
            <a:ext cx="434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Paradigma simbólico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370E1-8F19-4540-A6A9-8F053805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05125"/>
            <a:ext cx="4343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Aplica reglas explícitas, produce trazas y permite verificación. Requiere entradas formales limpias y conocimiento estructurado.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20B0A-A195-44BA-A86A-E3415A47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86026-AA18-4226-BBF8-485357A2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33D59-0247-4992-9E5F-F8F7C016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62500"/>
            <a:ext cx="262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59357-D414-42EA-95AC-2B9C432F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Arquitectura híbrida:</a:t>
            </a:r>
          </a:p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separar interpretación y verificación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33661-ABAC-41EE-BAB5-AF38051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35615-2D47-495B-9BAF-58D82316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Marco conceptual apoyado en surveys NeSy [1], [2], [5] y analogía dual-process [6].</a:t>
            </a:r>
          </a:p>
        </p:txBody>
      </p:sp>
    </p:spTree>
    <p:extLst>
      <p:ext uri="{BB962C8B-B14F-4D97-AF65-F5344CB8AC3E}">
        <p14:creationId xmlns:p14="http://schemas.microsoft.com/office/powerpoint/2010/main" val="16615748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2A7F6-F58C-48CD-9418-A213913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95EA3-3A6C-4B4C-B4E2-E2D83805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62914-2BA5-4B3C-B441-DDE94A3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5CED1-5E5F-4332-AA56-8A7480E4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GROUNDING E INTERFAZ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FC02E-8875-44CA-95BF-0FC4CE32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BAA1F-72E6-4BF2-AE6F-649A3183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riesgo central no está solo en razonar: está en traducir correctamente el mundo a símbolos.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1178E-50CE-4F30-8F4A-FAEC3A0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Si la formalización inicial no captura la intención, el solver puede resolver con rigor un problema equivocado.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11D94-1DBC-457B-AE05-8E94FFA1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CD514-D9B8-4A3B-B28C-B7E31DBA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8E051-C334-430D-9CC4-57E41341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Lenguaje natural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893AE-5B4B-4F7B-B2C9-51A39FC0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Instrucción ambigua o dependiente del contexto.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4098B-17FF-4027-A017-5798B130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35313-3F6B-45EE-9FBC-D6AB8BD5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846CF-491F-4947-A26D-8EF17DC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747C8-E5C3-4EAD-84A3-2D6717EE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336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64B0F-B293-4985-828E-C31FC197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19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Interpreta, extrae entidades y relaciones.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41F67-34E0-4925-8C0F-CD27387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788C8-4A67-45E0-A971-F337871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31110-51A4-41BC-8D8F-7B825D5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87556-0EB3-42E7-88A1-7960EB87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336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Formalismo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95778-F97E-4F5D-B4EF-222CB688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PDDL, FOL, SMT, JSON tipado.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FE4B0-5AA2-4B67-BCB8-6D40C95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E4CED-A32E-44E4-A829-E34CB39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F0EED-0B85-4C4B-88F8-27B5645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DDBE6-8895-4FF9-BF41-A997529D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336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54AD8-D69A-4D94-8975-4460E92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194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Planifica, deduce, verifica o rechaza.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29246-DDED-40C4-A696-19929B97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4149F1-3889-470B-A76C-15B35A9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1600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9CFBB-3F1C-4A33-A93B-7CDDAA70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692AC-4F4E-4E8C-93B9-46AC32F0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2AF8A-BB74-4AA1-BA98-0E6FD5E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19425"/>
            <a:ext cx="1295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Plan, prueba o respuesta.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5A71C-4CD7-4D0C-B38F-2F5437F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F3DBD-1CD8-43DF-B88C-74E4F47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338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447BF6-FC9B-4322-B577-D72A6BBC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910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zona frágil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BFE255-0004-4C3D-BC73-EF02A414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sintaxis puede validarse; la intención semántica es más difícil de comprobar.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8E797-92EA-4A5F-9E02-C5408BEB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6321E2-586D-4648-BBD7-0ED771C5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Symbol grounding y fragilidad de traducción: ver [3], [4], [8], [9], [14], [16].</a:t>
            </a:r>
          </a:p>
        </p:txBody>
      </p:sp>
    </p:spTree>
    <p:extLst>
      <p:ext uri="{BB962C8B-B14F-4D97-AF65-F5344CB8AC3E}">
        <p14:creationId xmlns:p14="http://schemas.microsoft.com/office/powerpoint/2010/main" val="2600657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6FB4D-E93B-412F-A500-214F14C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DF65D-C2BE-4817-82AD-DC8FE835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13601-92BB-45C6-9689-3A29037F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A8C7B-7B62-4510-BD0C-2FDF111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TAXONOMÍA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4327F-F577-468E-97DB-34DF465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D0E53-096C-46AF-8452-5D17E191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Kautz clasifica la integración por dónde vive el control neuronal-simbólico.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CDB40-4A8D-4463-8FF3-83FBD04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 taxonomía evita llamar NeSy a cualquier mezcla superficial de LLM + herramienta.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D0004-5C68-4354-A996-B1124935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9E95-1410-4FB8-A296-7D1CA9A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51851-5455-4F21-B733-506EEC4E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Symbolic Neuro Symbolic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8702F-D7FE-4E63-B211-3A837B9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81275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Entrada y salida simbólicas con procesamiento neuronal.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25CD8-81BF-4BC0-8E00-7E30453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LLM vanilla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BF9F7-02F2-4C64-B674-C34200E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15966-8DA8-477A-942F-615EEB6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6D70F-0776-4F82-9DB5-17DC77DD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24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Symbolic[Neuro]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7BD13-EEDC-4961-9328-1A1A046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81275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Solver gobierna y consulta una red como heurística.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69DE5-84CC-4DF1-89AB-F654E88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AlphaGeometry2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1E8E0-8A6E-4D59-84F3-7B2DFA79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3B832-6955-4B48-AD0B-AB748CC2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CD0A0-D53A-459C-83B8-E54ECE5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Neuro union Symbolic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EDEDE-4B5A-43FC-8A7D-8C2CE39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81275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Bucle bidireccional con inferencia diferenciable.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24B8B-BE04-4421-A0D0-9739D0BC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DeepProbLog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89B11-867C-44AE-9E28-C51AA15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CDAE0-5181-4377-A5F2-17FC9F1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698B8-511F-4454-9C28-398AA4F2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Neuro -&gt; Symbolic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03731-C13D-4285-8F45-6590537E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29075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LLM formaliza; solver razona en lenguaje formal.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496CB-2F2F-4B06-AE81-7CEF4CD0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LLM+P, Logic-LM, DUPLEX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887CC-E361-4286-96EB-CAFCECCE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03DCF-E8A5-4CCA-AF90-D40F227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D5A9A-4B42-4016-BA6D-FD1A5108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71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NeuroSYMBOLIC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F3D60-9AEF-4837-8E1C-CA3EA8A8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Reglas integradas en entrenamiento o pérdida.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157C01-7DFA-46E6-90E3-F3626195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00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Semantic Loss, LTN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CE783-00D3-4D7F-87C8-BC619B9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CD10A-987C-4358-B847-CF340DF5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6AA32D-3F1C-44CB-931E-6DF3090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71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Neuro[Symbolic]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92F667-5784-48D1-9247-FE4DCB4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29075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Razonamiento simbólico incrustado en la arquitectura.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CB693-5A96-4068-AD92-5818DA2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horizonte teórico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C8DA07-DF82-4C6A-BD1B-7F6D6D37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4516EE-86A8-4010-BF39-C37E4CE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Taxonomía de Kautz [7]; matices sobre NeSy en [1], [2], [5].</a:t>
            </a:r>
          </a:p>
        </p:txBody>
      </p:sp>
    </p:spTree>
    <p:extLst>
      <p:ext uri="{BB962C8B-B14F-4D97-AF65-F5344CB8AC3E}">
        <p14:creationId xmlns:p14="http://schemas.microsoft.com/office/powerpoint/2010/main" val="18542028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8679A-F519-430F-B39C-1F39BCA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E8BC5-7BB8-4621-BCBA-E6946E84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0EED5-D049-4AA3-B6DA-CFE574B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43DFC-8CB2-4956-B559-999D5D1F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DISTINCIÓN CLAVE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58A39-4EAD-46A9-9EA8-8B6291B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0C6A0-370C-42AD-9F51-395C0465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Tipo 4 y Tipo 2 se parecen desde fuera, pero el control está en lugares distintos.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B793D-9E2A-4812-B1E7-FC4584E8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Esta diferencia es esencial para clasificar AlphaGeometry2 con rigor.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84045-6E15-4371-94BB-CDB2F0D8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Tipo 4: Neuro -&gt; Symbolic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2C9BA-0B0B-4BE6-BBF2-EE65562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41337-AA5A-41B3-B02E-C2A6257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A40EF-C15A-4701-9950-15AFFC3A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DB758-B69B-47BC-837F-EE9D0728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formaliza NL a PDDL / FOL / SMT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BDE6-975F-493B-9CC5-B4E97C9F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C46A4-9310-44C2-AE58-F8F51FB5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5E275-012E-4683-B4FC-9DE54AE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4AC55-ED1C-4F74-A7D1-16E29C50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E9E71-CC89-4616-896C-5464ADE4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71825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resuelve la representación recibida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D2FDF-2A2D-4775-A94A-646C6FB3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Ejemplos: LLM+P, Logic-LM, DUPLEX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37ED5-2FF4-4DC6-B268-BD227B1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0C545-0EE2-45E3-B07B-C1CE6F35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Tipo 2: Symbolic[Neuro]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F9F74-916A-4846-B137-9E68CB37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04879-3BED-4A0A-9DC4-ACB092D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28FB8-36FB-4DB9-8010-42764A5B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BC748-8A9B-4BB1-81E5-2021926F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gobierna búsqueda y cierre deductivo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C898C-D31B-4D41-B789-4343AB1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&lt;-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007AE-8083-4704-90A5-31616F6C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1D23C-3854-4C03-BE95-316EC4F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0EB1B-8E19-4C09-87E1-6E44CF25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860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1C299-582E-4F73-B13A-7AE75DB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propone ramas o construcciones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BA4A8-8D48-4BD4-8ACD-B4F7C45E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Ejemplo: AlphaGeometry2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35BE6-3F7A-45CD-8D1D-0891BB2B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53000"/>
            <a:ext cx="702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A4993-6C73-4D71-842A-A6BADA2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651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Pregunta diagnóstica: ¿quién decide si la prueba, plan o inferencia es válida?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A131C-9289-43C6-AB38-00D5F24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5595B8-3860-45FA-B006-D37FEC1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AlphaGeometry2 se clasifica como Tipo 2 porque DDAR conserva el control [15], [21].</a:t>
            </a:r>
          </a:p>
        </p:txBody>
      </p:sp>
    </p:spTree>
    <p:extLst>
      <p:ext uri="{BB962C8B-B14F-4D97-AF65-F5344CB8AC3E}">
        <p14:creationId xmlns:p14="http://schemas.microsoft.com/office/powerpoint/2010/main" val="7009729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AEEA3-B36F-4CCC-B53D-51569610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78D3D-1D16-4D41-B4BC-C4645594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D2DF7-23F0-4867-87D9-120EE183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773A6-AE9C-493E-83B6-3DC0EC3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PIPELINE DOMINANTE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79550-2ABC-4EC2-8D58-36DB6CF6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FBC39-4F1B-4404-BBEF-AC43CFA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Los pipelines NeSy-LLM convierten interpretación flexible en inferencia verificable.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3E756-F8C6-4852-B835-2B5BBEB6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 arquitectura útil no es una única llamada al LLM: es traducción, validación, solver y reparación.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F4EC5-084A-45FB-98C0-F342A2BB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37CE1-66AD-4D4F-BCED-FC5CE0A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D8BA2-825A-4F07-8843-0CBE8C10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Entrada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31025-5AFB-41B0-8B07-4406D51C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lenguaje natural o problema informal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B5DBD-1818-4B47-AE4B-87256958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49100-C9B1-4B94-B273-DBF6AF2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622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996E2-5038-4EF8-88F2-08EA4ED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622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6E509-D453-4080-BDFB-11C5EC44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2417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B5FC7-F258-495B-9A0C-04D2B1B5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99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interpreta, extrae, formaliza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59508-BFB8-4486-834F-04D5410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19643-8BF8-451C-B1F7-402E9BDC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81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6F0E5-7EE1-4B66-8A4D-90F95F7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E889E-1D72-4848-8C61-6C57D8AF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241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Formalismo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DE20B-06EF-4F5D-8B0F-7CDEF84F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9925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PDDL, FOL, SMT, 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97FD4-1DD5-46FF-93B1-F7F1CD9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6F1A1-EEA7-4D35-8544-8F9A13D8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1581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B19B5-C750-4E7D-A1F7-94BCE88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A6D81-1775-4C03-B73B-6A833A3A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4. Solver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58DAC-53A9-4DA6-9418-0CA69201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9925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planifica, deduce, verifica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550A6-9A38-40C3-9383-2A903FA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59542-017C-4189-9738-E8EF12DF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13B0E-708B-4743-AF01-488E7C8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EAE7F-4426-475B-82D0-3D23A3E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2417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5. Resultado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C2F9F-DA12-4974-8AB3-2E9322FA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9925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plan, prueba, respuesta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C0B58-3B31-4F50-8000-514895BE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si falla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07A775-09E3-4487-AC98-1AEDDC9C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&lt;- feedback del solver / contraejemplo / error de parser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FC71D-B374-4B61-BE75-A9CFD2D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577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DFBB34-3DA1-4A83-936E-25A95A65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14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self-refinement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27C78-54E8-4E8B-85F9-A7130E9B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09387-2BAC-4CF2-BE35-7B90A95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Patrón común en LLM+P [8], Logic-LM [9], DUPLEX [14] y CEGIS [18].</a:t>
            </a:r>
          </a:p>
        </p:txBody>
      </p:sp>
    </p:spTree>
    <p:extLst>
      <p:ext uri="{BB962C8B-B14F-4D97-AF65-F5344CB8AC3E}">
        <p14:creationId xmlns:p14="http://schemas.microsoft.com/office/powerpoint/2010/main" val="7558143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6ACC3-804D-4CEB-B704-BED72A3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10DB-600E-4B44-BC4F-66105A7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60A70-B547-406E-9571-2CFAC1A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A5872-20CE-4943-9E69-1FA55ED5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34D6C-2FC1-4071-B901-502C2331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C9CED-3068-4F20-A820-AFB2DF43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delegación simbólica mejora fiabilidad allí donde la salida debe ser verificable.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91E7A-E52E-42DE-B3F3-CB996D56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Las cifras dependen de benchmark y configuración, pero muestran una dirección consistente.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C4037-3382-461C-8586-3946A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PlanBench / Blocksworld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B83F7-6970-4171-A51F-F7BA26EC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GPT-4 + CoT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3C34D-0010-4E02-8997-2D55E148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0985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44F00-57F2-4BEF-9928-173C9B3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0985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71EAD-4D1C-4AB7-AFD4-B4D55C8A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527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~35%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02844-47A2-4318-BB0A-AF883BE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planner sobre PDDL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FD7FC-C625-4FC3-9159-6BC1D1A4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3C36E-09C9-47C9-A0DD-25ABB15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410718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47EB4-5635-45D1-927E-A6CC1374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337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~97-100%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B5AB2-D268-4A7A-B2FA-E4CC564D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Logic-LM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144F4-113B-4C1D-B60F-2A81F0CF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FOLIO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5AE11-FFA7-403C-87A5-DEDA920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767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34B38-ED37-4BB2-961F-3A380CAA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76700"/>
            <a:ext cx="33066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3FE08-BE82-4E4B-A52C-3B2BE6E4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195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~78.9%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7EE1C-E15E-475C-8107-0D8ACF20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ProofWriter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FCE42-F09D-480E-8268-A9531CFB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3F687-2208-42A5-92B3-54AE31B2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34785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3021D-8590-42BF-A9F0-0AE1FB5D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005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~83%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B974A-BC01-4F14-845E-58FB03CA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067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2719A-4604-4683-865F-A3F54D44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AlphaGeometry2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6E0AE-C810-48E1-B7CC-ACA36AE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84%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51A44-0F15-491C-BFA0-5B0B47B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IMO Geometry 2000-2024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42 de 50 problemas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95340-1E05-4736-961C-E7376F5C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frente a 54% del sistema original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D4D85-B495-444A-89F6-D9FF23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067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4AAB73-5B3E-46D7-98A1-6F65DC3F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Lectura: no es magia neuronal; es generación flexible con verificación externa.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C4F924-198D-4B72-A4AE-247E9252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1066F-8C3E-4EBF-81B6-99DF300D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PlanBench [16], LLM+P [8], Logic-LM [9], AlphaGeometry2 [15], AlphaGeometry [21].</a:t>
            </a:r>
          </a:p>
        </p:txBody>
      </p:sp>
    </p:spTree>
    <p:extLst>
      <p:ext uri="{BB962C8B-B14F-4D97-AF65-F5344CB8AC3E}">
        <p14:creationId xmlns:p14="http://schemas.microsoft.com/office/powerpoint/2010/main" val="1697855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DDD6A-4CDD-4CA1-81B8-1C1843B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FC7B9-1A60-4E5F-BBA1-351FC3B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A54BB-DC0F-40CA-AC3D-1F9EDE45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CA3F6-DBB1-476C-B568-1849FFCB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FAMILIAS DE SISTEMAS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BCB65-CB6B-480B-A4C7-23FAA31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45E84-EBFD-414B-B72B-8ECC51E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Los sistemas se distinguen por el rol asignado al componente neuronal.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985FB-1EEA-485E-A385-086DB4AD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Formalizar, reparar o proponer no son el mismo papel arquitectónico.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0278D-1F22-4ACC-A469-39CF908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Familia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027DA-A669-4984-A71B-F24E7FAF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14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Ejemplos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91697-7322-4CED-AB32-4965CBC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Neuronal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7D518-450B-4F89-AA8C-0E25F0A0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Simbólico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37CCD-2CB6-429B-8716-1A8F7848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Fragilidad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1C3EF-3459-4454-A92F-FBE93A6D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41D30-E464-4672-BE1C-76A3D36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Planificación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957D0-63FF-4B37-ACEB-C697A07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14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LLM+P</a:t>
            </a:r>
          </a:p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DUPLEX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DCD4A-A703-4C7F-9332-EB4A98AD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050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Extrae objetos, estados y metas; genera PDDL o JSON.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60ADE-6BAD-4567-A758-6B841F8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050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Fast Downward o planner valida y busca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ACC3D-DEDE-4108-B0CB-1B2C982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050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traducción de metas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0C81E-77F4-4558-AD2F-7A2B3FB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5027B-39CB-4025-855F-E0137F72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Lógica formal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490FE-637D-4C3C-AC93-8E38CD5F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Logic-LM</a:t>
            </a:r>
          </a:p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CEGIS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52A8D-2A4B-482C-BE2A-7DD3C6C9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385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Formaliza y repara fórmulas o candidatos.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61A4A-BF84-4907-BB94-E0B6D090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385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Z3, Prover9 o SMT dan prueba, modelo o contraejemplo.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F8E92-9CC4-4AAC-9D9E-199DA38F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385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formalización inicial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CCDB7-DA5A-4F6D-BC49-FDD7DAE8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EFE82-D7AC-4245-AED9-E327E9AE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51E10-49F7-40B9-A7EA-60FEB212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81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AG2</a:t>
            </a:r>
          </a:p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NELLIE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542B9-2967-42E2-B978-B7ACE0AA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Propone construcciones, reglas o unificación semántica.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189BD-0C59-4F4A-8E31-54B6364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719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DDAR o backward chaining estructura y verifica.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190617-473E-48A9-B995-D59AA2C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719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explosión de búsqueda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98927-6F50-4CC0-9F99-8A980F22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E89ED-87FC-4D72-A2A2-84085733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Síntesis funcional basada en sistemas [8], [9], [14], [15], [18], [22].</a:t>
            </a:r>
          </a:p>
        </p:txBody>
      </p:sp>
    </p:spTree>
    <p:extLst>
      <p:ext uri="{BB962C8B-B14F-4D97-AF65-F5344CB8AC3E}">
        <p14:creationId xmlns:p14="http://schemas.microsoft.com/office/powerpoint/2010/main" val="700284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FEAF2-3B3F-4998-B270-2A4B0DB0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22A06-4494-4FDD-A134-ECEF6CD6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51F3B-934B-4CA0-A376-366993F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43592-EB65-4323-B93D-8EEAC0F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CASO PROFUNDO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B24AA-997D-4A4A-ACCD-E1828EF5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D0F02-DBE1-47C6-852B-EACF0C2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AlphaGeometry2 muestra el patrón Tipo 2: el modelo propone, DDAR decide.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D449C-D3B5-499D-B3B5-9FE371F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 prueba no la certifica Gemini; la valida el motor deductivo.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19F9E-665D-40C6-A2F3-587C3A51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DFB58-F9CB-4291-8DBD-731F21C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9A764-9475-4E21-A553-243AEEE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Premisas geométricas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F8B11-C940-4B2B-BE0A-99D86AA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puntos, líneas, círculos, congruencias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6F41C-48AD-4FD2-A3C0-1CDC9615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48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3B999-1FC1-4A19-9320-F27FC4F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DA2FF-3481-4689-AC80-4B66E157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8025D-5342-48D7-957E-4241C1B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FDB39-1812-46E5-BDF8-40989C15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33725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cierre deductivo con reglas formales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C8F7B-DA96-4397-9A7E-D7DCC0A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92C2A-40D9-4E07-9AA1-DBB7C1ED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8605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E54B6-0650-478C-B1B8-704E1F0E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860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C8CCE-9243-4F46-972A-7714F735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4797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Meta probada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FE879-C8DC-411E-8144-F07AB4AC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33725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si aparece en el cierre, se obtiene prueba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08C12-194A-4319-A407-38B43742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2857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1765B-597A-4A23-8330-5C9335FE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 DDAR se bloquea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F8B66-97E5-462F-B6A2-4D407234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2228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Gemini fine-tuneado propone una construcción auxiliar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322A5-3989-477B-9E26-BB81250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ej. punto medio, línea auxiliar, círculo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CFFCB-92B2-4D0B-989D-E41B3B72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386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&lt;- nuevas premisas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F35CAD-6BEF-4ADA-AE7F-ED7B3EE4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912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EB0A9-9E95-461F-A368-7056395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Clasificación correcta: Symbolic[Neuro]. El solver simbólico gobierna la búsqueda y la red opera como heurística.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C11FA-EA09-4729-B404-376B470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F1DCE-9A91-4B0C-AAFE-2E3302B0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AlphaGeometry2 [15]; AlphaGeometry original [21].</a:t>
            </a:r>
          </a:p>
        </p:txBody>
      </p:sp>
    </p:spTree>
    <p:extLst>
      <p:ext uri="{BB962C8B-B14F-4D97-AF65-F5344CB8AC3E}">
        <p14:creationId xmlns:p14="http://schemas.microsoft.com/office/powerpoint/2010/main" val="13748127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6A5AA-E3F7-4786-857D-4F18E813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A3A1C-F922-455B-B8B8-D2CF9C50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490A4-7F6C-470C-9C7D-AB6E7024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06891-8E96-45BA-82F4-BB6BF64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FRAGILIDAD TÉCNICA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A402A-F33C-4556-9753-50B24E16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96919-CE9E-474A-AF33-539B1D93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solver puede ser correcto y aun así producir una salida equivocada.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8CE8E-66C6-4096-8B6D-D5C118E0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 falla más peligrosa es una formalización semánticamente desviada.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91501-AD65-4F3A-8669-ED25B8D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57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6AEBE-680B-4B53-9DA9-5969DDBC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Sintaxis inválida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4ABAC-AB88-4BF2-8D18-FFFF4832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paréntesis PDDL roto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5AE16-B0B2-4A5F-9936-33058F5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parser falla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D1F77-68C8-4908-BC91-D0CBC212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24100"/>
            <a:ext cx="2457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A7A83-E1C2-45F9-8BE9-3E5838FC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Predicado inventado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3BE7C-090A-465B-B00E-CA54B0F5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527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AtBox vs box_at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B2FFE-E784-4092-90AC-57E4EDDC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solver rechaza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56CDF-404C-499B-9E76-2850737B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457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34447-29DF-4B50-B1C0-96F5B395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Omisión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3F1E1-92C7-445F-8E18-9259C7E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falta una precondición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5CFF8-8F0A-4C2E-8C7D-E593A29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 no ejecutable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E2506-C538-48C2-BC83-1C18CA6E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457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0875F-B081-4128-8016-01D0770F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Desviación semántica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398F6-AC8B-45B5-91E6-6932E85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527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meta parecida, no 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2A149-0056-48D1-A197-0E860E9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respuesta rigurosa pero falsa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B47A9-B272-4099-9A63-9FC450B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969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2E8B2-5E8A-4076-BEAE-86D9B42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Pregunta crítica: ¿el problema formal resuelto por el solver era realmente el problema del usuario?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1EC632-7C94-4F28-8D67-23B00679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Mitigaciones: parsers, JSON Schema, vocabularios cerrados, contraejemplos, límites de iteración.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45606-2795-4535-BA9D-A6EA7851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C8E5D-3E50-4F63-A2A1-76E1EF7C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Fragilidad de traducción y self-refinement: [8], [9], [14], [18].</a:t>
            </a:r>
          </a:p>
        </p:txBody>
      </p:sp>
    </p:spTree>
    <p:extLst>
      <p:ext uri="{BB962C8B-B14F-4D97-AF65-F5344CB8AC3E}">
        <p14:creationId xmlns:p14="http://schemas.microsoft.com/office/powerpoint/2010/main" val="1638816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82134-2573-4A11-8317-77622418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9C771-AE23-49B4-BC3E-A871F3C1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B3E6E-4140-48F7-A66F-AE5BBB2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5D565-32EB-4B46-9027-399C435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14B35-B06E-458B-97F9-BC40C15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07A59-0EF2-4702-9739-1B254F8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soundness se compra con pérdida de generalidad y coste de búsqueda.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160FF-9045-4329-A4BE-BDA3C25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No hay una arquitectura que sea universal, rápida, interpretable y formalmente sound al mismo tiempo.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73EB5-D1F5-4358-998E-0FAED0D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18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B9E9C-7CAB-4270-A023-20B36268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285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EE688-DE76-4C58-A966-6231B4DD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57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Generalidad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49929-D05B-4B70-B134-65E0BADA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Soundness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125D-E342-4872-8097-61CC0502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FCDEE-B989-4B44-A77C-67AF808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03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DDAR</a:t>
            </a:r>
          </a:p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AG2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69840-66C3-4C9A-816C-9B2F10A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10CA7-7040-416D-9B25-FED08E5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6227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Z3</a:t>
            </a:r>
          </a:p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EAB00-3B87-4C8F-BB4A-E6D01F3F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47012-7140-4772-B38B-33272999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623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Fast Downward</a:t>
            </a:r>
          </a:p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PDDL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C376E-857E-429C-BDC0-F10B2A8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DA2C6-BA85-4730-8EEA-E5EF405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481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NELLIE</a:t>
            </a:r>
          </a:p>
          <a:p xmlns:a="http://schemas.openxmlformats.org/drawingml/2006/main">
            <a:pPr algn="ctr">
              <a:defRPr sz="863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NL proofs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07EF7-7B9E-4C52-B83B-A409D635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6D1FA-CC16-45B9-B627-46251A3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958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LLM puro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8C30F-A779-4D72-9523-2D809E53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3124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F2FF3-C6C1-4070-9AE9-870B27C6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Más flexible no significa más fiable; más formal no significa más transferible.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63E30-0A3D-478D-85C6-AE5354D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11454-5359-4585-A9F3-7DCCAF9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Trade-off sintetizado desde sistemas [8], [9], [14], [15], [22].</a:t>
            </a:r>
          </a:p>
        </p:txBody>
      </p:sp>
    </p:spTree>
    <p:extLst>
      <p:ext uri="{BB962C8B-B14F-4D97-AF65-F5344CB8AC3E}">
        <p14:creationId xmlns:p14="http://schemas.microsoft.com/office/powerpoint/2010/main" val="8095743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98C72-C828-4FE6-B8D9-1A00B470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391C8-E883-4FAA-9F22-D68B7D8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C913C-F4AD-4729-A3AB-5A91B118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6F29C-23C2-4674-A89E-F102720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ÉTICA Y ACCOUNTABILITY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5101D-D049-4EF2-A9B6-99481AB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D100A-5ABF-4A46-A50F-33FAEA9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explicabilidad simbólica puede auditar una inferencia, pero no purifica sus premisas.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6B2E4-8D06-4680-ADD1-08D10AE3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El riesgo ético distintivo es que una traza formal legitime datos o reglas sesgadas.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3539D-98B7-484F-BC27-9420EB22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170C-832C-4D9D-BDF7-4997A013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65E3E-30AA-4CE0-AB9F-C045A69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289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Sesgo neuronal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38DAC-68FF-4C72-BACB-4F206FAF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datos, embeddings, extracción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639B2-E064-4DE8-8387-0EA3BCE3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C4A9B-368B-4038-8057-92774AF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670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D18EF-3333-437B-AAFD-84B2AC18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670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5C36B-7344-4295-B7D1-25CADEEF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289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Premisa formal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F1EC5-4530-4E7C-AF65-8D5F063D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146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predicado tratado como verdadero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7C867-8A92-4EF9-8DD4-893977A9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670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6FBA4-2B4D-418B-9E4D-841CEF0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DB453-1A9F-40D8-AE7D-0216305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E785C-F742-421C-AE22-05CFA12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289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Regla simbólica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C124D-9558-4CB4-90FD-D3639079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146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inferencia consistente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72C95-1942-47EC-81B4-CC82098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14413-269E-4BF4-8271-D3B2EA0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13D0F-4472-47AD-ADFD-D329AC5A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3A83E-F841-4A59-83C8-5732A43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Conclusión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12242-9071-40E8-852E-598F7C85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árbol de prueba auditable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EF71A-D68B-4934-B3E2-AAA3E1A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3CA7E-A2A4-4042-9C68-FA6A205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219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7D5D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B61AC-1357-45BD-9232-2D70F4ED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219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0FC03-EEF6-4516-A58A-4F67326D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28925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Legitimidad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420342-E294-49E4-9D74-C074296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14675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confianza institucional indebida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E402F-BFA4-4407-AF67-CE8F000A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89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B5AA08-3E02-427B-B329-78C894E2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05350"/>
            <a:ext cx="824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Explainability laundering: una explicación formal puede hacer parecer objetiva una decisión fundada en premisas defectuosas.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7C5236-E90F-4C6D-BEBD-665F7D6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E7E4AB-4129-4045-A662-3FE531F3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Sesgo algorítmico y proxies en salud: Obermeyer et al. [26].</a:t>
            </a:r>
          </a:p>
        </p:txBody>
      </p:sp>
    </p:spTree>
    <p:extLst>
      <p:ext uri="{BB962C8B-B14F-4D97-AF65-F5344CB8AC3E}">
        <p14:creationId xmlns:p14="http://schemas.microsoft.com/office/powerpoint/2010/main" val="269185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C98AE-1DC6-4842-8741-82459011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9C4D2-7054-4ACD-A96B-1D4EBB6B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EA402-9047-48FA-A108-E2A070B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652EC-C052-4E20-A5C0-A568BCDA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SÍNTESIS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46904-51A5-48B1-BFB7-3621C12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EB2CB-8169-43C9-BB63-87E44AAA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Principio de diseño: el componente neuronal propone; el simbólico verifica.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22ABC-E111-4119-BD3C-1CB2962E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870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 promesa de NeSy-LLM no es convertir al LLM en un razonador perfecto, sino diseñar arquitecturas donde sus errores puedan detectarse, limitarse o corregirse.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18116-4801-482F-9787-FE33FFFD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2C6BC-5C61-430C-9892-42B4DC3D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9445F-127B-4103-BAE9-A786CCC7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separar responsabilidades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34F9C-CFAE-4B42-8AAC-4AAA5C71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interpretar/proponer frente a verificar/deducir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2EAFB-4698-4A49-B7A8-05508737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4993D-C3D7-43CD-8633-FFB94ED6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EBEDE-FB3C-448D-9554-3EB1888E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clasificar con rigor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B1C2B-0C88-4093-AADC-B21FCC4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909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Tipo 4 para pipelines; Tipo 2 para AG2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BC961-2559-4DDD-B89E-651265C7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67924-C1ED-4A90-8421-2F73A46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DF3DE-3E67-47D1-9F76-5A02887F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mirar la interfaz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9A7A0-9691-4E3F-9F4C-56FF3DE4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la formalización puede cambiar el problema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56F92-275C-48C0-A9C4-22C6034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96239-839C-4B85-B2C1-660410D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9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410D3-AE8B-4A64-A92E-9445E7B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auditar premisas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B8CB9-F5A2-49D6-BADA-0C3897F3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90925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explicabilidad no implica justicia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3FA0A-E3F3-4B49-BC23-FCC9FA35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535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C663B-9B66-427A-AD81-2A037FC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Wiki del proyecto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9E1FB-44E3-4364-A5E1-0C4CBC6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https://pachecoe2020.github.io/IA-Neurosimb-lica-en-Grandes-Modelos-de-Lenguaje/guia/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7078D-336B-45C0-856B-A086363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77F63-FD7B-4EE6-87FE-3220BA3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5"/>
                </a:solidFill>
                <a:latin typeface="Aptos"/>
                <a:ea typeface="Aptos"/>
                <a:cs typeface="Aptos"/>
              </a:rPr>
              <a:t>Referencias seleccionadas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83009-5803-4012-9A9C-7199844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76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[1] Wang et al. 2025   [7] Kautz 2022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[8] LLM+P   [9] Logic-LM   [15] AlphaGeometry2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39C16-A4ED-4EDA-A246-5FEC5336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5C8A4A-3F5B-49F0-BC0A-72BC9757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9C11C-A0C8-4F38-B7B0-B6F563F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Cierre: NeSy mejora trazabilidad, pero no garantiza corrección end-to-end si las premisas son defectuosas.</a:t>
            </a:r>
          </a:p>
        </p:txBody>
      </p:sp>
    </p:spTree>
    <p:extLst>
      <p:ext uri="{BB962C8B-B14F-4D97-AF65-F5344CB8AC3E}">
        <p14:creationId xmlns:p14="http://schemas.microsoft.com/office/powerpoint/2010/main" val="1040623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2026-05-03T20:35:54.7060000Z</dcterms:created>
  <dcterms:modified xsi:type="dcterms:W3CDTF">2026-05-03T20:35:54.7060000Z</dcterms:modified>
</coreProperties>
</file>